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69" r:id="rId7"/>
    <p:sldId id="270" r:id="rId8"/>
    <p:sldId id="271" r:id="rId9"/>
    <p:sldId id="272" r:id="rId10"/>
    <p:sldId id="273" r:id="rId11"/>
    <p:sldId id="268"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6" d="100"/>
          <a:sy n="96" d="100"/>
        </p:scale>
        <p:origin x="98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5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5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50000"/>
              </a:lnSpc>
              <a:spcBef>
                <a:spcPts val="400"/>
              </a:spcBef>
            </a:pPr>
            <a:r>
              <a:rPr lang="en-US" sz="2400" b="1" dirty="0">
                <a:latin typeface="Times New Roman" panose="02020603050405020304" pitchFamily="18" charset="0"/>
                <a:cs typeface="Times New Roman" panose="02020603050405020304" pitchFamily="18" charset="0"/>
              </a:rPr>
              <a:t>Enhancing Debugging and Maintainability of ASP.NET</a:t>
            </a:r>
          </a:p>
          <a:p>
            <a:pPr algn="ctr">
              <a:lnSpc>
                <a:spcPct val="150000"/>
              </a:lnSpc>
              <a:spcBef>
                <a:spcPts val="400"/>
              </a:spcBef>
            </a:pPr>
            <a:r>
              <a:rPr lang="en-US" sz="2400" b="1" dirty="0">
                <a:latin typeface="Times New Roman" panose="02020603050405020304" pitchFamily="18" charset="0"/>
                <a:cs typeface="Times New Roman" panose="02020603050405020304" pitchFamily="18" charset="0"/>
              </a:rPr>
              <a:t> Core Backend APIs</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Tanvi Gupta, 2210990905</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Vanshita Thakral, 2210992510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latin typeface="Times New Roman" panose="02020603050405020304" pitchFamily="18" charset="0"/>
                <a:cs typeface="Times New Roman" panose="02020603050405020304" pitchFamily="18" charset="0"/>
              </a:rPr>
              <a:t>Dr Rajat Takkar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6383"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589722" y="1307888"/>
            <a:ext cx="7487478" cy="4838571"/>
          </a:xfrm>
          <a:prstGeom prst="rect">
            <a:avLst/>
          </a:prstGeom>
          <a:noFill/>
          <a:ln w="9360">
            <a:noFill/>
          </a:ln>
        </p:spPr>
        <p:txBody>
          <a:bodyPr>
            <a:noAutofit/>
          </a:bodyPr>
          <a:lstStyle/>
          <a:p>
            <a:pPr algn="just">
              <a:lnSpc>
                <a:spcPct val="150000"/>
              </a:lnSpc>
              <a:spcBef>
                <a:spcPts val="400"/>
              </a:spcBef>
            </a:pPr>
            <a:r>
              <a:rPr lang="en-US" sz="2000" dirty="0">
                <a:latin typeface="Times New Roman" panose="02020603050405020304" pitchFamily="18" charset="0"/>
                <a:cs typeface="Times New Roman" panose="02020603050405020304" pitchFamily="18" charset="0"/>
              </a:rPr>
              <a:t>Backend APIs are responsible for handling all the core operations of an application. As systems grow, debugging becomes more difficult because logs are not properly structured and exception handling is scattered. This leads to increased debugging time and makes the system harder to maintain. So, there is a need for a better approach to handle logging and errors.</a:t>
            </a: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8249F-8DB8-BDF4-C851-1DE92551F6EB}"/>
              </a:ext>
            </a:extLst>
          </p:cNvPr>
          <p:cNvSpPr>
            <a:spLocks noGrp="1"/>
          </p:cNvSpPr>
          <p:nvPr>
            <p:ph type="title"/>
          </p:nvPr>
        </p:nvSpPr>
        <p:spPr>
          <a:xfrm>
            <a:off x="609600" y="0"/>
            <a:ext cx="6612834" cy="914040"/>
          </a:xfrm>
        </p:spPr>
        <p:txBody>
          <a:bodyPr/>
          <a:lstStyle/>
          <a:p>
            <a:r>
              <a:rPr lang="en-IN" sz="3200" dirty="0">
                <a:latin typeface="Times New Roman" panose="02020603050405020304" pitchFamily="18" charset="0"/>
                <a:cs typeface="Times New Roman" panose="02020603050405020304" pitchFamily="18" charset="0"/>
              </a:rPr>
              <a:t>Problem in Backend Systems</a:t>
            </a:r>
          </a:p>
        </p:txBody>
      </p:sp>
      <p:sp>
        <p:nvSpPr>
          <p:cNvPr id="3" name="Subtitle 2">
            <a:extLst>
              <a:ext uri="{FF2B5EF4-FFF2-40B4-BE49-F238E27FC236}">
                <a16:creationId xmlns:a16="http://schemas.microsoft.com/office/drawing/2014/main" id="{A9631EA2-A9FC-F73E-28F2-343DA2A84987}"/>
              </a:ext>
            </a:extLst>
          </p:cNvPr>
          <p:cNvSpPr>
            <a:spLocks noGrp="1"/>
          </p:cNvSpPr>
          <p:nvPr>
            <p:ph type="subTitle"/>
          </p:nvPr>
        </p:nvSpPr>
        <p:spPr>
          <a:xfrm>
            <a:off x="457200" y="549965"/>
            <a:ext cx="8229240" cy="4790661"/>
          </a:xfrm>
        </p:spPr>
        <p:txBody>
          <a:bodyPr/>
          <a:lstStyle/>
          <a:p>
            <a:pPr algn="just">
              <a:lnSpc>
                <a:spcPct val="150000"/>
              </a:lnSpc>
            </a:pPr>
            <a:r>
              <a:rPr lang="en-US" sz="2000" dirty="0"/>
              <a:t>Debugging backend APIs is difficult in large applications</a:t>
            </a:r>
          </a:p>
          <a:p>
            <a:pPr algn="just">
              <a:lnSpc>
                <a:spcPct val="150000"/>
              </a:lnSpc>
            </a:pPr>
            <a:r>
              <a:rPr lang="en-US" sz="2000" dirty="0"/>
              <a:t>Logs are often unstructured and unclear</a:t>
            </a:r>
          </a:p>
          <a:p>
            <a:pPr algn="just">
              <a:lnSpc>
                <a:spcPct val="150000"/>
              </a:lnSpc>
            </a:pPr>
            <a:r>
              <a:rPr lang="en-US" sz="2000" dirty="0"/>
              <a:t>Exception handling is scattered using multiple try-catch blocks</a:t>
            </a:r>
          </a:p>
          <a:p>
            <a:pPr algn="just">
              <a:lnSpc>
                <a:spcPct val="150000"/>
              </a:lnSpc>
            </a:pPr>
            <a:r>
              <a:rPr lang="en-US" sz="2000" dirty="0"/>
              <a:t>Leads to increased debugging time, code duplication, and inconsistent responses</a:t>
            </a:r>
          </a:p>
          <a:p>
            <a:endParaRPr lang="en-IN" dirty="0"/>
          </a:p>
        </p:txBody>
      </p:sp>
    </p:spTree>
    <p:extLst>
      <p:ext uri="{BB962C8B-B14F-4D97-AF65-F5344CB8AC3E}">
        <p14:creationId xmlns:p14="http://schemas.microsoft.com/office/powerpoint/2010/main" val="1346627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4636-3FC0-4C70-1E9C-438AFD938C05}"/>
              </a:ext>
            </a:extLst>
          </p:cNvPr>
          <p:cNvSpPr>
            <a:spLocks noGrp="1"/>
          </p:cNvSpPr>
          <p:nvPr>
            <p:ph type="title"/>
          </p:nvPr>
        </p:nvSpPr>
        <p:spPr>
          <a:xfrm>
            <a:off x="1060174" y="0"/>
            <a:ext cx="4425866" cy="914040"/>
          </a:xfrm>
        </p:spPr>
        <p:txBody>
          <a:bodyPr/>
          <a:lstStyle/>
          <a:p>
            <a:r>
              <a:rPr lang="en-IN" sz="3200" dirty="0">
                <a:latin typeface="Times New Roman" panose="02020603050405020304" pitchFamily="18" charset="0"/>
                <a:cs typeface="Times New Roman" panose="02020603050405020304" pitchFamily="18" charset="0"/>
              </a:rPr>
              <a:t>Proposed Approach</a:t>
            </a:r>
          </a:p>
        </p:txBody>
      </p:sp>
      <p:sp>
        <p:nvSpPr>
          <p:cNvPr id="3" name="Subtitle 2">
            <a:extLst>
              <a:ext uri="{FF2B5EF4-FFF2-40B4-BE49-F238E27FC236}">
                <a16:creationId xmlns:a16="http://schemas.microsoft.com/office/drawing/2014/main" id="{C436446F-58AD-90F3-390D-2417CC63B9A1}"/>
              </a:ext>
            </a:extLst>
          </p:cNvPr>
          <p:cNvSpPr>
            <a:spLocks noGrp="1"/>
          </p:cNvSpPr>
          <p:nvPr>
            <p:ph type="subTitle"/>
          </p:nvPr>
        </p:nvSpPr>
        <p:spPr>
          <a:xfrm>
            <a:off x="457200" y="0"/>
            <a:ext cx="8229240" cy="5581800"/>
          </a:xfrm>
        </p:spPr>
        <p:txBody>
          <a:bodyPr/>
          <a:lstStyle/>
          <a:p>
            <a:pPr algn="just">
              <a:lnSpc>
                <a:spcPct val="150000"/>
              </a:lnSpc>
            </a:pPr>
            <a:r>
              <a:rPr lang="en-US" sz="2000" dirty="0"/>
              <a:t>Structured Logging: logs stored in key-value format</a:t>
            </a:r>
          </a:p>
          <a:p>
            <a:pPr algn="just">
              <a:lnSpc>
                <a:spcPct val="150000"/>
              </a:lnSpc>
            </a:pPr>
            <a:r>
              <a:rPr lang="en-US" sz="2000" dirty="0"/>
              <a:t>Centralized Exception Handling using middleware</a:t>
            </a:r>
          </a:p>
          <a:p>
            <a:pPr algn="just">
              <a:lnSpc>
                <a:spcPct val="150000"/>
              </a:lnSpc>
            </a:pPr>
            <a:r>
              <a:rPr lang="en-US" sz="2000" dirty="0"/>
              <a:t>Cleaner code, better debugging, consistent responses</a:t>
            </a:r>
          </a:p>
          <a:p>
            <a:endParaRPr lang="en-IN" dirty="0"/>
          </a:p>
        </p:txBody>
      </p:sp>
    </p:spTree>
    <p:extLst>
      <p:ext uri="{BB962C8B-B14F-4D97-AF65-F5344CB8AC3E}">
        <p14:creationId xmlns:p14="http://schemas.microsoft.com/office/powerpoint/2010/main" val="1612973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534C5-06AF-CB52-7DBE-D534D5905234}"/>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6E5081E8-CD6B-D54B-FD79-A373566B525D}"/>
              </a:ext>
            </a:extLst>
          </p:cNvPr>
          <p:cNvSpPr>
            <a:spLocks noGrp="1"/>
          </p:cNvSpPr>
          <p:nvPr>
            <p:ph type="subTitle"/>
          </p:nvPr>
        </p:nvSpPr>
        <p:spPr>
          <a:xfrm>
            <a:off x="457200" y="980661"/>
            <a:ext cx="8229240" cy="4601139"/>
          </a:xfrm>
        </p:spPr>
        <p:txBody>
          <a:bodyPr/>
          <a:lstStyle/>
          <a:p>
            <a:pPr algn="just">
              <a:lnSpc>
                <a:spcPct val="150000"/>
              </a:lnSpc>
            </a:pPr>
            <a:r>
              <a:rPr lang="en-IN" sz="2000" dirty="0">
                <a:latin typeface="Times New Roman" panose="02020603050405020304" pitchFamily="18" charset="0"/>
                <a:cs typeface="Times New Roman" panose="02020603050405020304" pitchFamily="18" charset="0"/>
              </a:rPr>
              <a:t>Developed two systems: Traditional and Proposed</a:t>
            </a:r>
          </a:p>
          <a:p>
            <a:pPr algn="just">
              <a:lnSpc>
                <a:spcPct val="150000"/>
              </a:lnSpc>
            </a:pPr>
            <a:r>
              <a:rPr lang="en-IN" sz="2000" dirty="0">
                <a:latin typeface="Times New Roman" panose="02020603050405020304" pitchFamily="18" charset="0"/>
                <a:cs typeface="Times New Roman" panose="02020603050405020304" pitchFamily="18" charset="0"/>
              </a:rPr>
              <a:t>Traditional: simple logging + multiple try-catch</a:t>
            </a:r>
          </a:p>
          <a:p>
            <a:pPr algn="just">
              <a:lnSpc>
                <a:spcPct val="150000"/>
              </a:lnSpc>
            </a:pPr>
            <a:r>
              <a:rPr lang="en-IN" sz="2000" dirty="0">
                <a:latin typeface="Times New Roman" panose="02020603050405020304" pitchFamily="18" charset="0"/>
                <a:cs typeface="Times New Roman" panose="02020603050405020304" pitchFamily="18" charset="0"/>
              </a:rPr>
              <a:t>Proposed: structured logging + centralized handling</a:t>
            </a:r>
          </a:p>
          <a:p>
            <a:pPr algn="just">
              <a:lnSpc>
                <a:spcPct val="150000"/>
              </a:lnSpc>
            </a:pPr>
            <a:r>
              <a:rPr lang="en-IN" sz="2000" dirty="0">
                <a:latin typeface="Times New Roman" panose="02020603050405020304" pitchFamily="18" charset="0"/>
                <a:cs typeface="Times New Roman" panose="02020603050405020304" pitchFamily="18" charset="0"/>
              </a:rPr>
              <a:t>Tested using invalid inputs, DB failures, API exceptions</a:t>
            </a:r>
          </a:p>
          <a:p>
            <a:pPr algn="just">
              <a:lnSpc>
                <a:spcPct val="150000"/>
              </a:lnSpc>
            </a:pPr>
            <a:r>
              <a:rPr lang="en-IN" sz="2000" dirty="0">
                <a:latin typeface="Times New Roman" panose="02020603050405020304" pitchFamily="18" charset="0"/>
                <a:cs typeface="Times New Roman" panose="02020603050405020304" pitchFamily="18" charset="0"/>
              </a:rPr>
              <a:t>Metrics: debugging time, log clarity, response consistency, maintainability</a:t>
            </a:r>
          </a:p>
          <a:p>
            <a:endParaRPr lang="en-IN" dirty="0"/>
          </a:p>
        </p:txBody>
      </p:sp>
    </p:spTree>
    <p:extLst>
      <p:ext uri="{BB962C8B-B14F-4D97-AF65-F5344CB8AC3E}">
        <p14:creationId xmlns:p14="http://schemas.microsoft.com/office/powerpoint/2010/main" val="4090358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96DC-0E46-6C37-2A70-F4180BE73DEA}"/>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Results Comparison</a:t>
            </a:r>
          </a:p>
        </p:txBody>
      </p:sp>
      <p:pic>
        <p:nvPicPr>
          <p:cNvPr id="5" name="Picture 4">
            <a:extLst>
              <a:ext uri="{FF2B5EF4-FFF2-40B4-BE49-F238E27FC236}">
                <a16:creationId xmlns:a16="http://schemas.microsoft.com/office/drawing/2014/main" id="{ED568A62-AD6C-5533-C5F5-59D45F2FE382}"/>
              </a:ext>
            </a:extLst>
          </p:cNvPr>
          <p:cNvPicPr>
            <a:picLocks noChangeAspect="1"/>
          </p:cNvPicPr>
          <p:nvPr/>
        </p:nvPicPr>
        <p:blipFill>
          <a:blip r:embed="rId2"/>
          <a:stretch>
            <a:fillRect/>
          </a:stretch>
        </p:blipFill>
        <p:spPr>
          <a:xfrm>
            <a:off x="576470" y="1604520"/>
            <a:ext cx="7891577" cy="2914471"/>
          </a:xfrm>
          <a:prstGeom prst="rect">
            <a:avLst/>
          </a:prstGeom>
        </p:spPr>
      </p:pic>
    </p:spTree>
    <p:extLst>
      <p:ext uri="{BB962C8B-B14F-4D97-AF65-F5344CB8AC3E}">
        <p14:creationId xmlns:p14="http://schemas.microsoft.com/office/powerpoint/2010/main" val="3956680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7E73B-5B76-16DC-84DB-9E7ACB661738}"/>
              </a:ext>
            </a:extLst>
          </p:cNvPr>
          <p:cNvSpPr>
            <a:spLocks noGrp="1"/>
          </p:cNvSpPr>
          <p:nvPr>
            <p:ph type="title"/>
          </p:nvPr>
        </p:nvSpPr>
        <p:spPr/>
        <p:txBody>
          <a:bodyPr/>
          <a:lstStyle/>
          <a:p>
            <a:pPr algn="ctr"/>
            <a:r>
              <a:rPr lang="en-IN" sz="3200" dirty="0"/>
              <a:t>Conclusion &amp; Future Work</a:t>
            </a:r>
          </a:p>
        </p:txBody>
      </p:sp>
      <p:sp>
        <p:nvSpPr>
          <p:cNvPr id="3" name="Subtitle 2">
            <a:extLst>
              <a:ext uri="{FF2B5EF4-FFF2-40B4-BE49-F238E27FC236}">
                <a16:creationId xmlns:a16="http://schemas.microsoft.com/office/drawing/2014/main" id="{0B4F223B-08C0-B27A-4F0B-59FC5BBE5B96}"/>
              </a:ext>
            </a:extLst>
          </p:cNvPr>
          <p:cNvSpPr>
            <a:spLocks noGrp="1"/>
          </p:cNvSpPr>
          <p:nvPr>
            <p:ph type="subTitle"/>
          </p:nvPr>
        </p:nvSpPr>
        <p:spPr>
          <a:xfrm>
            <a:off x="457200" y="1604520"/>
            <a:ext cx="8229240" cy="3179515"/>
          </a:xfrm>
        </p:spPr>
        <p:txBody>
          <a:bodyPr/>
          <a:lstStyle/>
          <a:p>
            <a:pPr algn="just">
              <a:lnSpc>
                <a:spcPct val="150000"/>
              </a:lnSpc>
            </a:pPr>
            <a:r>
              <a:rPr lang="en-IN" sz="2000" dirty="0">
                <a:latin typeface="Times New Roman" panose="02020603050405020304" pitchFamily="18" charset="0"/>
                <a:cs typeface="Times New Roman" panose="02020603050405020304" pitchFamily="18" charset="0"/>
              </a:rPr>
              <a:t>Structured logging improves traceability</a:t>
            </a:r>
          </a:p>
          <a:p>
            <a:pPr algn="just">
              <a:lnSpc>
                <a:spcPct val="150000"/>
              </a:lnSpc>
            </a:pPr>
            <a:r>
              <a:rPr lang="en-IN" sz="2000" dirty="0">
                <a:latin typeface="Times New Roman" panose="02020603050405020304" pitchFamily="18" charset="0"/>
                <a:cs typeface="Times New Roman" panose="02020603050405020304" pitchFamily="18" charset="0"/>
              </a:rPr>
              <a:t>Centralized exception handling reduces duplication</a:t>
            </a:r>
          </a:p>
          <a:p>
            <a:pPr algn="just">
              <a:lnSpc>
                <a:spcPct val="150000"/>
              </a:lnSpc>
            </a:pPr>
            <a:r>
              <a:rPr lang="en-IN" sz="2000" dirty="0">
                <a:latin typeface="Times New Roman" panose="02020603050405020304" pitchFamily="18" charset="0"/>
                <a:cs typeface="Times New Roman" panose="02020603050405020304" pitchFamily="18" charset="0"/>
              </a:rPr>
              <a:t>System becomes more maintainable and scalable</a:t>
            </a:r>
          </a:p>
          <a:p>
            <a:pPr algn="just">
              <a:lnSpc>
                <a:spcPct val="150000"/>
              </a:lnSpc>
            </a:pPr>
            <a:r>
              <a:rPr lang="en-IN" sz="2000" dirty="0">
                <a:latin typeface="Times New Roman" panose="02020603050405020304" pitchFamily="18" charset="0"/>
                <a:cs typeface="Times New Roman" panose="02020603050405020304" pitchFamily="18" charset="0"/>
              </a:rPr>
              <a:t>Future: microservices, distributed tracing, AI-based log analysis</a:t>
            </a:r>
          </a:p>
          <a:p>
            <a:endParaRPr lang="en-IN" dirty="0"/>
          </a:p>
        </p:txBody>
      </p:sp>
    </p:spTree>
    <p:extLst>
      <p:ext uri="{BB962C8B-B14F-4D97-AF65-F5344CB8AC3E}">
        <p14:creationId xmlns:p14="http://schemas.microsoft.com/office/powerpoint/2010/main" val="3573585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34727</TotalTime>
  <Words>271</Words>
  <Application>Microsoft Office PowerPoint</Application>
  <PresentationFormat>On-screen Show (4:3)</PresentationFormat>
  <Paragraphs>40</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Problem in Backend Systems</vt:lpstr>
      <vt:lpstr>Proposed Approach</vt:lpstr>
      <vt:lpstr>Methodology</vt:lpstr>
      <vt:lpstr>Results Comparison</vt:lpstr>
      <vt:lpstr>Conclusion &amp; Future Work</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Tanvi Gupta</cp:lastModifiedBy>
  <cp:revision>2302</cp:revision>
  <dcterms:created xsi:type="dcterms:W3CDTF">2010-04-09T07:36:15Z</dcterms:created>
  <dcterms:modified xsi:type="dcterms:W3CDTF">2026-04-29T14:56:43Z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